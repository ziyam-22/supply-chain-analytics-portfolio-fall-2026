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1. State the decision, product, horizon, owner and what is at stake. Costs are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2. Level, trend, seasonality, events and one key insight. 104 weeks of synthetic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3. All methods fitted on weeks 1-92 and scored on the same holdout. No leakage found: corrupting holdout data left every forecast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4. Effects per typical swing, holding other drivers constant, fitted on weeks 1-92.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5. Bias, largest misses, uncertainty and two stress scenarios for the recommended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6. Policy compared with four alternatives across 12 scenarios; all costs are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480"/>
            <a:ext cx="10566400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46809"/>
            <a:ext cx="10566400" cy="379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480"/>
            <a:ext cx="10566400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46809"/>
            <a:ext cx="10566400" cy="379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6 · What decision are we trying to make?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80"/>
            <a:ext cx="10883392" cy="821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Set the 12-week supply plan for Fruita Vitals 200ml before the Ramadan build begins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161084"/>
            <a:ext cx="5200650" cy="153392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367459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656979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Fruita Vitals 200ml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2350" y="3026470"/>
            <a:ext cx="493153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Nestlé Pakistan, national weekly packs, general and modern trade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5375" y="2161084"/>
            <a:ext cx="5200650" cy="153392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1750" y="2367459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81750" y="2656979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Dec 2025 – 22 Mar 2026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81750" y="3026470"/>
            <a:ext cx="493153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weeks, including Ramadan (from 19 Feb) and Eid-ul-Fitr (about 21 Mar)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917255"/>
            <a:ext cx="5200650" cy="153392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" y="4123630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OWNER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2350" y="4413151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Supply Chain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22350" y="4782641"/>
            <a:ext cx="493153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Sales, Operations, Procurement and Finance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5375" y="3917255"/>
            <a:ext cx="5200650" cy="153392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750" y="4123630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CONSEQUENCE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1750" y="4413151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 vs excess stock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81750" y="4782641"/>
            <a:ext cx="493153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unmet pack loses about PKR 22 margin; each surplus pack ties up about PKR 50 of cash (assumed costs)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6368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Company-Calibrated Synthetic Dataset for Academic Analysis — illustrative figures, calibrated to Nestle Pakistan's disclosed scale, not actual company records.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254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Ziyam · ERP ID 28359 · Supply Chain Analytics (MGT-353) · Instructor: Faisal Jalal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6 · What is happening in demand?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80"/>
            <a:ext cx="10883392" cy="821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Demand rides the heat cycle and jumps in promotion and Ramadan/Eid weeks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161084"/>
            <a:ext cx="5200650" cy="153392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367459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AND TREND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656979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822k packs a week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2350" y="3026470"/>
            <a:ext cx="493153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average rose from 810k to 836k, about +3%: growth is mild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5375" y="2161084"/>
            <a:ext cx="5200650" cy="153392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1750" y="2367459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81750" y="2656979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960k vs December 660k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81750" y="3026470"/>
            <a:ext cx="493153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demand tracks temperature through the year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917255"/>
            <a:ext cx="5200650" cy="1302841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" y="4123630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WEEKS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2350" y="4413151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+20%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22350" y="4782641"/>
            <a:ext cx="493153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950k packs vs 792k in other weeks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5375" y="3917255"/>
            <a:ext cx="5200650" cy="1302841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750" y="4123630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RAMADAN / EID WEEKS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1750" y="4413151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+21%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81750" y="4782641"/>
            <a:ext cx="493153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981k vs 809k; stockout weeks fall to 623k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5439172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B3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promotions and the seasonal heat cycle, not the trend, move weekly volume.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2800" y="626368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Company-Calibrated Synthetic Dataset for Academic Analysis — illustrative figures, calibrated to Nestle Pakistan's disclosed scale, not actual company records.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254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Ziyam · ERP ID 28359 · Supply Chain Analytics (MGT-353) · Instructor: Faisal Jalal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6 · Which method earned our trust?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80"/>
            <a:ext cx="10883392" cy="821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Regression earned our trust: it missed unseen weeks by 6.2%, against 9% to 17% for time-series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15790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% error (MAPE) on the 12 held-out weeks, 6 Oct – 22 Dec 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490589"/>
            <a:ext cx="36626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(price, promo, event, temperature)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95800" y="2662039"/>
            <a:ext cx="1530350" cy="190500"/>
          </a:xfrm>
          <a:prstGeom prst="roundRect">
            <a:avLst>
              <a:gd name="adj" fmla="val 20000"/>
            </a:avLst>
          </a:prstGeom>
          <a:solidFill>
            <a:srgbClr val="1F5FA8"/>
          </a:solidFill>
          <a:ln/>
        </p:spPr>
      </p:sp>
      <p:sp>
        <p:nvSpPr>
          <p:cNvPr id="7" name="Text 5"/>
          <p:cNvSpPr/>
          <p:nvPr/>
        </p:nvSpPr>
        <p:spPr>
          <a:xfrm>
            <a:off x="6153150" y="2623939"/>
            <a:ext cx="5211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125589"/>
            <a:ext cx="36626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index + event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95800" y="3163689"/>
            <a:ext cx="2222500" cy="190500"/>
          </a:xfrm>
          <a:prstGeom prst="roundRect">
            <a:avLst>
              <a:gd name="adj" fmla="val 20000"/>
            </a:avLst>
          </a:prstGeom>
          <a:solidFill>
            <a:srgbClr val="8A97A5"/>
          </a:solidFill>
          <a:ln/>
        </p:spPr>
      </p:sp>
      <p:sp>
        <p:nvSpPr>
          <p:cNvPr id="10" name="Text 8"/>
          <p:cNvSpPr/>
          <p:nvPr/>
        </p:nvSpPr>
        <p:spPr>
          <a:xfrm>
            <a:off x="6845300" y="3125589"/>
            <a:ext cx="5211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3493889"/>
            <a:ext cx="36626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95800" y="3531989"/>
            <a:ext cx="2667000" cy="190500"/>
          </a:xfrm>
          <a:prstGeom prst="roundRect">
            <a:avLst>
              <a:gd name="adj" fmla="val 20000"/>
            </a:avLst>
          </a:prstGeom>
          <a:solidFill>
            <a:srgbClr val="8A97A5"/>
          </a:solidFill>
          <a:ln/>
        </p:spPr>
      </p:sp>
      <p:sp>
        <p:nvSpPr>
          <p:cNvPr id="13" name="Text 11"/>
          <p:cNvSpPr/>
          <p:nvPr/>
        </p:nvSpPr>
        <p:spPr>
          <a:xfrm>
            <a:off x="7289800" y="3493889"/>
            <a:ext cx="6482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3862189"/>
            <a:ext cx="36626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smoothing (alpha 0.6)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95800" y="3900289"/>
            <a:ext cx="3333750" cy="190500"/>
          </a:xfrm>
          <a:prstGeom prst="roundRect">
            <a:avLst>
              <a:gd name="adj" fmla="val 20000"/>
            </a:avLst>
          </a:prstGeom>
          <a:solidFill>
            <a:srgbClr val="8A97A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6550" y="3862189"/>
            <a:ext cx="6482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4230489"/>
            <a:ext cx="36626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naive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95800" y="4268589"/>
            <a:ext cx="4121150" cy="190500"/>
          </a:xfrm>
          <a:prstGeom prst="roundRect">
            <a:avLst>
              <a:gd name="adj" fmla="val 20000"/>
            </a:avLst>
          </a:prstGeom>
          <a:solidFill>
            <a:srgbClr val="8A97A5"/>
          </a:solidFill>
          <a:ln/>
        </p:spPr>
      </p:sp>
      <p:sp>
        <p:nvSpPr>
          <p:cNvPr id="19" name="Text 17"/>
          <p:cNvSpPr/>
          <p:nvPr/>
        </p:nvSpPr>
        <p:spPr>
          <a:xfrm>
            <a:off x="8743950" y="4230489"/>
            <a:ext cx="6482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4713089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won because it sees the planned promotions and calendar. </a:t>
            </a: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</a:t>
            </a:r>
            <a:r>
              <a:rPr lang="en-US" sz="15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12 weeks, none with a Ramadan or Eid week, so the seasonal-index model (9.0%) stays our fallback.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6368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Company-Calibrated Synthetic Dataset for Academic Analysis — illustrative figures, calibrated to Nestle Pakistan's disclosed scale, not actual company records.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254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Ziyam · ERP ID 28359 · Supply Chain Analytics (MGT-353) · Instructor: Faisal Jalal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2"/>
              </a:lnSpc>
              <a:buNone/>
            </a:pPr>
            <a:r>
              <a:rPr lang="en-US" sz="1016" b="1" dirty="0">
                <a:solidFill>
                  <a:srgbClr val="B3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6 · What appears to move demand?</a:t>
            </a:r>
            <a:endParaRPr lang="en-US" sz="101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1605"/>
            <a:ext cx="10883392" cy="94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67"/>
              </a:lnSpc>
              <a:buNone/>
            </a:pPr>
            <a:r>
              <a:rPr lang="en-US" sz="2739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Promotions, Ramadan/Eid and heat lift demand; stockouts remove it; price cannot be separated from the trend</a:t>
            </a:r>
            <a:endParaRPr lang="en-US" sz="2739" dirty="0"/>
          </a:p>
        </p:txBody>
      </p:sp>
      <p:sp>
        <p:nvSpPr>
          <p:cNvPr id="4" name="Shape 2"/>
          <p:cNvSpPr/>
          <p:nvPr/>
        </p:nvSpPr>
        <p:spPr>
          <a:xfrm>
            <a:off x="815975" y="2226965"/>
            <a:ext cx="10560050" cy="524470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293640"/>
            <a:ext cx="19621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A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+199k packs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79750" y="2240359"/>
            <a:ext cx="490588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79750" y="2507059"/>
            <a:ext cx="571559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Associated with about 24% more volume than a non-promo week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5975" y="2846685"/>
            <a:ext cx="10560050" cy="524371"/>
          </a:xfrm>
          <a:prstGeom prst="roundRect">
            <a:avLst>
              <a:gd name="adj" fmla="val 1392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950" y="2913360"/>
            <a:ext cx="19621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A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+89k packs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79750" y="2859980"/>
            <a:ext cx="219801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Ramadan / Eid week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79750" y="3126680"/>
            <a:ext cx="188662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+11%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3466306"/>
            <a:ext cx="10560050" cy="524470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950" y="3532981"/>
            <a:ext cx="19621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A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+86k packs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79750" y="3479701"/>
            <a:ext cx="21270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+5°C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79750" y="3746401"/>
            <a:ext cx="247816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17k packs per degree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4086027"/>
            <a:ext cx="10560050" cy="524470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950" y="4152702"/>
            <a:ext cx="19621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−177k packs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79750" y="4099421"/>
            <a:ext cx="19947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 week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79750" y="4366121"/>
            <a:ext cx="232398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21% of demand lost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975" y="4705747"/>
            <a:ext cx="10560050" cy="524470"/>
          </a:xfrm>
          <a:prstGeom prst="roundRect">
            <a:avLst>
              <a:gd name="adj" fmla="val 1392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950" y="4772422"/>
            <a:ext cx="19621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79750" y="4719141"/>
            <a:ext cx="564291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+PKR 10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79750" y="4985841"/>
            <a:ext cx="657427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with the long-run trend (correlation 0.89); test price changes directly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5449292"/>
            <a:ext cx="11379200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1"/>
              </a:lnSpc>
              <a:buNone/>
            </a:pPr>
            <a:r>
              <a:rPr lang="en-US" sz="110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R² 0.83 (adjusted 0.82). These are associations, not proven causes; price rose with the trend, so its effect is unidentified, and promotion depth is not modelled.</a:t>
            </a:r>
            <a:endParaRPr lang="en-US" sz="1101" dirty="0"/>
          </a:p>
        </p:txBody>
      </p:sp>
      <p:sp>
        <p:nvSpPr>
          <p:cNvPr id="25" name="Text 23"/>
          <p:cNvSpPr/>
          <p:nvPr/>
        </p:nvSpPr>
        <p:spPr>
          <a:xfrm>
            <a:off x="812800" y="626368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Company-Calibrated Synthetic Dataset for Academic Analysis — illustrative figures, calibrated to Nestle Pakistan's disclosed scale, not actual company records.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254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Ziyam · ERP ID 28359 · Supply Chain Analytics (MGT-353) · Instructor: Faisal Jalal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3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6 · Where could the forecast fail?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80"/>
            <a:ext cx="10883392" cy="821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forecast can fail in two ways: a supplier delay and a demand slump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161084"/>
            <a:ext cx="5200650" cy="1765002"/>
          </a:xfrm>
          <a:prstGeom prst="roundRect">
            <a:avLst>
              <a:gd name="adj" fmla="val 557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367459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AND MISSES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656979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+15k packs a week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2350" y="3026470"/>
            <a:ext cx="4931537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Slightly low: tracking signal +4.0, at the limit (Error = Actual − Forecast, so + is under-forecast). Misses: 3 December weeks low, 2 shallow-promo weeks high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5375" y="2161084"/>
            <a:ext cx="5200650" cy="1765002"/>
          </a:xfrm>
          <a:prstGeom prst="roundRect">
            <a:avLst>
              <a:gd name="adj" fmla="val 557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1750" y="2367459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81750" y="2656979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8.9M – 9.8M packs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81750" y="3026470"/>
            <a:ext cx="493153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12-week total including temperature and promo-plan uncertainty. Model noise alone gives 9.09–9.65M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4148336"/>
            <a:ext cx="5200650" cy="1302841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" y="4354711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STRESS: SUPPLIER DELAY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2350" y="4644231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154k packs lost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22350" y="5013722"/>
            <a:ext cx="493153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slips two weeks: fill rate 98.4%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5375" y="4148336"/>
            <a:ext cx="5200650" cy="1302841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750" y="4354711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STRESS: DEMAND −20%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1750" y="4644231"/>
            <a:ext cx="4931537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B3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1.28M packs excess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81750" y="5013722"/>
            <a:ext cx="493153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PKR 153m peak working capital (assumed costs)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6368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Company-Calibrated Synthetic Dataset for Academic Analysis — illustrative figures, calibrated to Nestle Pakistan's disclosed scale, not actual company records.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254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Ziyam · ERP ID 28359 · Supply Chain Analytics (MGT-353) · Instructor: Faisal Jalal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985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0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6 · What should management do now?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480"/>
            <a:ext cx="10883392" cy="821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b="1" i="0" dirty="0">
                <a:solidFill>
                  <a:srgbClr val="F1EFE9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Commit to the full 9.4M-pack plan and hold 1.5 weeks of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157909"/>
            <a:ext cx="612190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0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Quantity:</a:t>
            </a:r>
            <a:r>
              <a:rPr lang="en-US" sz="1600" dirty="0">
                <a:solidFill>
                  <a:srgbClr val="F1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9.4M packs over 12 weeks (range 9.09–9.65M), about 782k a week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795290"/>
            <a:ext cx="612190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0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now:</a:t>
            </a:r>
            <a:r>
              <a:rPr lang="en-US" sz="1600" dirty="0">
                <a:solidFill>
                  <a:srgbClr val="F1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firm orders for packaging and concentrate against 100% of the forecast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432671"/>
            <a:ext cx="612190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0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Buffer:</a:t>
            </a:r>
            <a:r>
              <a:rPr lang="en-US" sz="1600" dirty="0">
                <a:solidFill>
                  <a:srgbClr val="F1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1.17M packs (1.5 weeks) in stock, staged before the 9 Feb pre-Ramadan week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070052"/>
            <a:ext cx="612190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0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Flex:</a:t>
            </a:r>
            <a:r>
              <a:rPr lang="en-US" sz="1600" dirty="0">
                <a:solidFill>
                  <a:srgbClr val="F1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top-up supply for up to 10% of weekly volume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10400" y="2157909"/>
            <a:ext cx="4368800" cy="2186384"/>
          </a:xfrm>
          <a:prstGeom prst="roundRect">
            <a:avLst>
              <a:gd name="adj" fmla="val 4647"/>
            </a:avLst>
          </a:prstGeom>
          <a:solidFill>
            <a:srgbClr val="1F3550"/>
          </a:solidFill>
          <a:ln/>
        </p:spPr>
      </p:sp>
      <p:sp>
        <p:nvSpPr>
          <p:cNvPr id="9" name="Text 7"/>
          <p:cNvSpPr/>
          <p:nvPr/>
        </p:nvSpPr>
        <p:spPr>
          <a:xfrm>
            <a:off x="7213600" y="2361109"/>
            <a:ext cx="40812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trigger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13600" y="2686149"/>
            <a:ext cx="408127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1E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signal beyond ±4; four-week demand more than 10% off forecast; packaging slips over a week; Ramadan or Eid date moves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4560193"/>
            <a:ext cx="108833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= expected demand (9.4M). Sales target = set separately by Sales. Operational plan = this commitment. Why: smallest worst-case regret (PKR 9.3m vs 14.6m); the buffer costs about PKR 2.3m in the base case.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63680"/>
            <a:ext cx="108833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Company-Calibrated Synthetic Dataset for Academic Analysis — illustrative figures, calibrated to Nestle Pakistan's disclosed scale, not actual company records.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254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Ziyam · ERP ID 28359 · Supply Chain Analytics (MGT-353) · Instructor: Faisal Jalal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uita Vitals 200ml: Decision Storyboard (6 frames)">
  <a:themeElements>
    <a:clrScheme name="Fruita Vitals 200ml: Decision Storyboard (6 frames)">
      <a:dk1>
        <a:srgbClr val="14202E"/>
      </a:dk1>
      <a:lt1>
        <a:srgbClr val="F6F4EF"/>
      </a:lt1>
      <a:dk2>
        <a:srgbClr val="4D555E"/>
      </a:dk2>
      <a:lt2>
        <a:srgbClr val="DFDFDC"/>
      </a:lt2>
      <a:accent1>
        <a:srgbClr val="B36A00"/>
      </a:accent1>
      <a:accent2>
        <a:srgbClr val="2A7A46"/>
      </a:accent2>
      <a:accent3>
        <a:srgbClr val="B23A2E"/>
      </a:accent3>
      <a:accent4>
        <a:srgbClr val="F0A93A"/>
      </a:accent4>
      <a:accent5>
        <a:srgbClr val="1F5FA8"/>
      </a:accent5>
      <a:accent6>
        <a:srgbClr val="1F3550"/>
      </a:accent6>
      <a:hlink>
        <a:srgbClr val="0563C1"/>
      </a:hlink>
      <a:folHlink>
        <a:srgbClr val="954F72"/>
      </a:folHlink>
    </a:clrScheme>
    <a:fontScheme name="Fruita Vitals 200ml: Decision Storyboard (6 frames)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Fruita Vitals 200ml: Decision Storyboard (6 frames)</dc:title>
  <dc:subject/>
  <dc:creator/>
  <cp:lastModifiedBy/>
  <cp:revision>1</cp:revision>
  <dcterms:created xsi:type="dcterms:W3CDTF">2026-10-08T09:19:58Z</dcterms:created>
  <dcterms:modified xsi:type="dcterms:W3CDTF">2026-10-08T09:19:58Z</dcterms:modified>
</cp:coreProperties>
</file>